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9144000" cy="5143500"/>
  <p:embeddedFontLst>
    <p:embeddedFont>
      <p:font typeface="Open Sans" panose="020F0502020204030204" pitchFamily="34" charset="0"/>
      <p:regular r:id="rId9"/>
      <p:bold r:id="rId10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7D09C5F-306A-4579-A7A3-5D80B83DBD7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51881B6-7C4B-4EB4-B406-3705D30B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 anchor="b"/>
          <a:lstStyle>
            <a:lvl1pPr lvl="0" algn="ctr">
              <a:defRPr lang="en-US" sz="4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A9FE7607-109F-4309-95C3-F8D2206CF22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A07178F-11D6-463E-9BE8-8C222FA09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lIns="91440" rtlCol="0" anchor="t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21154B79-5AF9-4647-A772-405978EC5B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73C98E0-76D5-420F-9ECA-1E6028E4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E36C8717-7FE2-4A35-9F9F-7828B006056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9076A9D-3406-4DB1-83F3-C4B05D52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8F7AD65C-7CAB-497E-8B42-A2A58CBD9FB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1E6A781-1323-47D4-BA88-990D9F29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A9DEFF72-950F-491C-93D5-8E0FA16599A3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1925260C-F62F-415E-B71E-64621AA2441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E6829AF-9BE9-40EB-A57A-3437F092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2BD85451-44D6-40F0-9919-8FD986EA7F4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B8540E3-2902-4FF5-8C5B-E829AA72C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AE5BF1C7-86D5-469F-97E3-994E9FB05C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601CBA1-F904-4879-87A4-FFDFFDBEB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8FDB8C89-B2CC-4809-A2C2-20A811FB900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B6D6604-A9D7-4F94-8F9F-DD6E670E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71B9E86D-4B2F-495B-AB3E-D5FCDFD5A01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3875121-5287-46E9-B0A6-45299C1B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F02C03F-C7AA-44CD-9615-5255CC28D648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2D368236-2117-4D90-A386-D0F5A5003B8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94734AC-BCA0-4C64-8734-E69F35E9C45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2192059"/>
            <a:ext cx="7620000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b="0" i="0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766F40E6-B517-46C3-93B4-256E7D3ECE8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7215639-84AB-4609-9CAC-F672CF5BEE09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762000" y="2735662"/>
            <a:ext cx="7620000" cy="882263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0CAFE94C-CDE6-4F96-B632-C51DE57F23B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4BC44AC-7053-4AEC-91B6-A522FF2C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E19F638F-5E40-4CF9-900C-4D46BA30B51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481184D-F7EC-446D-98C5-B93F6197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122D84FC-2E38-44B5-A723-0988C5B3B4B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11ABB93-82AD-47BF-AB98-3DEE58A6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731EDABA-101B-4ECE-B5A1-AF1DC5981808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0C045CC-1EAD-4624-A6BD-C002C98B2C7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C28FC93-75A3-45C2-86C1-1338A37C7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1A505137-D543-43DB-BF6A-9B67CDF864C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873B830-510B-4DB1-A842-AD5A79F3C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DC629516-7C02-4404-A572-9DB46694D99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5807D64-8EFE-4A19-8DCA-AD7B62389F4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DA0B47AA-A671-4495-A03C-B110305783F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1D78F57-68DB-44F5-B6D2-A16DE4BE9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BBEBC922-3F2B-442F-85B1-4A22389A399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005F66D-5992-4028-8B08-83E928E8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57560E8D-5083-4B6C-B247-2D1612D57DD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B8739A1-79BB-418A-81BA-FE1F32C6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D651E06-B5F0-49FE-9B2D-2990EE67F8E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28622A64-F793-4FA1-924E-269E2C4C88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D4F28DD-662F-4ACF-AC55-094FAC1B756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37745D62-5AE9-43C8-BB2B-E40DEB0D9CF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F50C1A9-A580-4A7D-B18A-14D07D28E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7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8620BBAD-23B5-4A92-ABAB-BFE376782B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7B6FBA9-24A9-4157-8E88-2C98E35308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93693A5-D378-424C-816B-26C713F9815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15139A8-2A38-42E0-9AC0-915B3E9DE371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687DC337-794E-4022-9D38-A65292666FC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C5593E2-AED9-4779-8CFA-37BE11E5A56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>
            <a:extLst>
              <a:ext uri="{1A1E2D69-56D9-4C05-AF43-0610B55BC5E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74A7C9C-DCC8-4D8C-964F-98997D343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  <p:sp>
        <p:nvSpPr>
          <p:cNvPr id="8" name="Footer Placeholder 5">
            <a:extLst>
              <a:ext uri="{34DDCA68-A3E3-483D-BD29-0426152BB70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FEA84F7-4A89-425C-962F-509EED38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6">
            <a:extLst>
              <a:ext uri="{F8F19EF1-8DDB-4DBB-826A-161DFC51A77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910DE3B-45B4-4A87-8044-58E72C15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</p:spTree>
    <p:extLst>
      <p:ext uri="{1355997B-9DE8-47A9-9A4B-80890582889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51628EC-63B5-4A4D-881A-5AE55B0C0F4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A63F7F5-4928-4549-A73D-708055ABD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 anchor="ctr"/>
          <a:lstStyle>
            <a:lvl1pPr lvl="0" algn="ctr">
              <a:defRPr lang="en-US" sz="36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3">
            <a:extLst>
              <a:ext uri="{21D8026F-A549-421E-BDEF-754535D5D62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245494D-99DD-451E-A140-B93832A5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4" name="Footer Placeholder 2">
            <a:extLst>
              <a:ext uri="{8C58E040-6327-4A98-8BE1-8E5F69C8634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E00DCF-EE66-43AE-BE15-C91ED0B46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1">
            <a:extLst>
              <a:ext uri="{AC07B8A7-E324-4702-A547-F439F203692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699F62C-4BFF-4FC4-947B-6C5D3DE9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B1A3728A-BE5C-425B-8070-3517388C4FEF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5A653D00-A020-4908-9AF5-90D02AB3EE8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66CD6E5-BF64-4E21-9CB3-91D27466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C3076501-3550-4223-82A5-091FD67CE28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6C0B86C-CDC8-43D4-9546-64EEC46F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7651F257-0A9D-452B-91D7-4C8E8285D4E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80B83A3-9196-479B-AB0C-0EC3DE86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23D77AD2-DB67-4BC0-AA77-8E1221C172F6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7F50B60-78A7-49B6-A959-4A914257B72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55A86FD-2E12-4033-9B12-2C0BF40B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6642CBEA-3F69-4BE6-9350-8E0454F5D55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2BDBC16-419E-4BC0-9256-30A6017A6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CC14F1A2-444B-41CF-BF97-4A2C80E26C5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C22476-913B-4A9A-B59B-75C380C7EB9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>
            <a:extLst>
              <a:ext uri="{31FC94A8-438D-4144-AF0B-98E130161C7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FEAEAB2-3F6A-4DE1-A92D-3786C808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8D4ACC7A-DE56-428F-BEB5-671C2954235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AA3150D-B2A9-49DD-AA67-26F797B95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7B41DFAA-A309-447A-8AC3-74873F1A110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1797E75-EB77-40AA-8257-BCDB85C5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474BEC8D-BD06-4224-80AE-919B01E04CC9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EF18FDEE-8661-4D28-811C-A9A1257C7C3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3E92ED4-6843-4AB0-82AA-EA6FA8FA3594}"/>
              </a:ext>
            </a:extLst>
          </p:cNvPr>
          <p:cNvSpPr/>
          <p:nvPr/>
        </p:nvSpPr>
        <p:spPr>
          <a:xfrm>
            <a:off x="3718307" y="1437411"/>
            <a:ext cx="4663693" cy="3037029"/>
          </a:xfrm>
          <a:prstGeom prst="rect">
            <a:avLst/>
          </a:prstGeom>
          <a:noFill/>
          <a:ln w="6350" cap="flat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3" name="Title 1">
            <a:extLst>
              <a:ext uri="{4849BBCE-0CA9-43F1-B006-13D53C0ED5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BFA8926-3326-4DDB-96C4-F1D9E9C6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C89BB5D6-5F34-4B15-B904-6AACE2DA5B8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9B97816-52EE-4DB4-BDE1-C7FB8E0CB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>
            <a:extLst>
              <a:ext uri="{EE4D6391-CA45-4773-937F-B0E1FD36796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F7D40A3-647C-4CB6-9017-E69E896F100F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A8E215AF-1E36-48F8-B9B9-2ED601936A9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4A56F34-0D5E-4D6F-8D70-6B92A460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7" name="Footer Placeholder 3">
            <a:extLst>
              <a:ext uri="{9BAD5A76-AEC5-4C5A-A5A9-5D43B9661AB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7DA6319-6677-47C0-9126-3AB46D8F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105ECAD3-72E1-4747-A58C-5069D2FC7E2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E8D2C4B-A87B-403E-BA10-6435AE5C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BEFB7FD8-203A-4F0F-BE19-7F5A7FF07E8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7CB68649-6494-40AF-9B05-DAEDA78A5F0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A1C79C7-1F91-47FA-8ECC-240BC3D288FF}"/>
              </a:ext>
            </a:extLst>
          </p:cNvPr>
          <p:cNvSpPr/>
          <p:nvPr/>
        </p:nvSpPr>
        <p:spPr>
          <a:xfrm>
            <a:off x="774703" y="1417637"/>
            <a:ext cx="185052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3" name="Rectangle 20">
            <a:extLst>
              <a:ext uri="{2AACA2AF-3F37-4AC2-A7B1-B4C07C12C21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1CBA7D9-4205-4CD7-BA0B-30FF9613553F}"/>
              </a:ext>
            </a:extLst>
          </p:cNvPr>
          <p:cNvSpPr/>
          <p:nvPr/>
        </p:nvSpPr>
        <p:spPr>
          <a:xfrm>
            <a:off x="2774950" y="1417637"/>
            <a:ext cx="358031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4" name="Rectangle 22">
            <a:extLst>
              <a:ext uri="{4F37B6BE-F8CF-4FA6-830F-575044BC89A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EB5764-08C1-40D2-A0CF-278486050FC5}"/>
              </a:ext>
            </a:extLst>
          </p:cNvPr>
          <p:cNvSpPr/>
          <p:nvPr/>
        </p:nvSpPr>
        <p:spPr>
          <a:xfrm>
            <a:off x="6496050" y="1417637"/>
            <a:ext cx="1882776" cy="2192337"/>
          </a:xfrm>
          <a:custGeom>
            <a:avLst/>
            <a:gdLst/>
            <a:ahLst/>
            <a:cxnLst/>
            <a:rect l="0" t="0" r="r" b="b"/>
            <a:pathLst>
              <a:path w="1882776" h="2192337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7B7D1574-B2B5-42D3-9EA3-7BBB5F9E893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9324DCF-8EFD-4BAF-B99B-70C2D9D68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A5F60857-961A-4BAD-A1B5-C4EE7270B93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210DDAB-C48B-426F-95AE-E745D71A4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57C1A39C-B0B8-43CA-92CA-D8CD6A1CE9C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B911E29-C613-4EA2-BAE0-0E6B5239B46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2000" y="3810000"/>
            <a:ext cx="1847850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79EF552A-6325-4345-937E-3EA161E9E37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3BFE39-D889-4D76-BEB9-4769A91E2094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162BE61C-8E15-49E6-8632-CDA57053D3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5E501C0-1CED-413F-94B8-4F011EF89669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777561" y="3810000"/>
            <a:ext cx="3577708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2">
            <a:extLst>
              <a:ext uri="{2B591600-3BF6-4EB2-94EC-8ADFD52EA17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F7418A9-DF54-478A-BE47-AC7FDB2A53CE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>
            <a:extLst>
              <a:ext uri="{5379CE3B-88DF-4DA4-BF56-9D7A2906C43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DE825DD-6803-48DA-BA7F-1227300C7BC8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496050" y="3810000"/>
            <a:ext cx="1882775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4">
            <a:extLst>
              <a:ext uri="{CF68F49C-90B0-4658-87C6-95486062921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7B286D6-58A6-4833-864A-1746BA0E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13" name="Footer Placeholder 3">
            <a:extLst>
              <a:ext uri="{8FA0A4C6-1A1D-4912-8DD8-E68E86DD00A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07E673B-1B00-4B2A-B5A1-2ED7A2C4B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EF3F4570-57DC-409F-AEC1-DF5E22F360A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BEAF44-235A-4FE1-9F9A-6D19BBF0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3708D67D-3D14-4708-93C4-B7ABDEF56C3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36D37A7-90E5-40E1-9328-B0CEBCFF68D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4A50F92-4265-46C0-A91E-91C90A6FA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9C3FD31-3BCB-4110-A65B-B9988C22C1A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ECB0FD0-92EF-419C-8706-4BB862721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">
            <a:extLst>
              <a:ext uri="{4ED6D246-D4C2-42FB-A3A2-2B5D8833C3F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2988F8A-4B35-45DC-9A05-BF91C605E04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3EA924A5-4679-47E0-8D98-BBDBA14802D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DEB83E9-1770-449B-AA61-15C95D39738F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3B56D022-93B8-48A5-B26F-70349D953CE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65C4611-FB86-43A4-AA44-6895F62B9626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4">
            <a:extLst>
              <a:ext uri="{E93689D3-9964-43C0-B7FF-92D9AB75E2E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F938065-882D-472F-A55E-F53801B1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8" name="Footer Placeholder 3">
            <a:extLst>
              <a:ext uri="{0FEDCC41-6DC8-4F89-AD09-DAD8D100623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7E28C55-3312-4591-9910-D78B210A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8B9B50B7-3813-4046-9B27-7B94DA7B237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9485E6B-484B-459B-B0C5-87897805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4328B002-9719-43A0-9B81-E52B73E085EB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594D2B04-1B21-4336-A11C-9E7BF285EBA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F532FB-C118-4A8D-81A9-CDBBD95D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9045"/>
            <a:ext cx="7620000" cy="857250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340871FC-85C8-44C5-88BD-B5398CDCA86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83F86BC-1CD6-4587-B574-A21E812B7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28750"/>
            <a:ext cx="7620000" cy="3048000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9BEAD7ED-017A-4AAE-83A6-A6542B440EC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BFAFBA3-B6B0-442F-9733-A780D7E7E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A8B2681E-EE70-4A0D-B8CA-2027AA6A546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BEBA62C-C5AD-470B-9937-FA6D17B63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C85452DE-FFC7-4E90-92D6-0E36E31F327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FA45F66-BC33-48EF-BBB3-79E0B8085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ts val="1200"/>
        </a:spcBef>
        <a:buChar char="•"/>
        <a:defRPr lang="en-US" sz="1600" b="0" i="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ts val="300"/>
        </a:spcBef>
        <a:buChar char="-"/>
        <a:defRPr lang="en-US" sz="1400" b="0" i="0" dirty="0">
          <a:solidFill>
            <a:schemeClr val="tx1">
              <a:lumMod val="85000"/>
              <a:lumOff val="15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har char="-"/>
        <a:defRPr lang="en-US" sz="1200" b="0" i="0" dirty="0">
          <a:solidFill>
            <a:schemeClr val="tx1">
              <a:lumMod val="75000"/>
              <a:lumOff val="25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har char="-"/>
        <a:defRPr lang="en-US" sz="10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Char char="-"/>
        <a:defRPr lang="en-US" sz="900" b="0" i="0" dirty="0">
          <a:solidFill>
            <a:schemeClr val="tx1">
              <a:lumMod val="50000"/>
              <a:lumOff val="50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122E437-28FE-44C7-B37C-AF526FB0F64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1B9C4DC-16FC-43D8-9C0F-B5E2E77C4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5" y="1857460"/>
            <a:ext cx="6819452" cy="1191015"/>
          </a:xfrm>
        </p:spPr>
        <p:txBody>
          <a:bodyPr rtlCol="0"/>
          <a:lstStyle/>
          <a:p>
            <a:r>
              <a:rPr lang="en-US" sz="3200" dirty="0" err="1">
                <a:solidFill>
                  <a:srgbClr val="00B050"/>
                </a:solidFill>
              </a:rPr>
              <a:t>Patson</a:t>
            </a:r>
            <a:r>
              <a:rPr lang="en-US" sz="3200" dirty="0">
                <a:solidFill>
                  <a:srgbClr val="00B050"/>
                </a:solidFill>
              </a:rPr>
              <a:t> Machines CRM Workflow Architecture and Planning</a:t>
            </a:r>
          </a:p>
        </p:txBody>
      </p:sp>
    </p:spTree>
    <p:extLst>
      <p:ext uri="{70FABDF0-C9A9-47CE-AD35-7CFFFE1D0C7D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3D7B2A6C-2859-4A45-AC81-50E1B41EFD3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0053F8E-E552-4EDD-B4DC-94A7B6D5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Proposed Architecture</a:t>
            </a:r>
          </a:p>
        </p:txBody>
      </p:sp>
      <p:pic>
        <p:nvPicPr>
          <p:cNvPr id="3" name="Content Placeholder 2">
            <a:extLst>
              <a:ext uri="{E2640808-6C25-4B17-B24A-7EE8DBC8209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41E176E-9206-40F0-B456-91BBD391A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52512" r="-152512"/>
          <a:stretch>
            <a:fillRect/>
          </a:stretch>
        </p:blipFill>
        <p:spPr/>
      </p:pic>
    </p:spTree>
    <p:extLst>
      <p:ext uri="{E99EF57F-2FDD-46FC-8A03-9451CCE20AC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7614181C-AD9B-4E40-AF7B-A745DBFA93A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F1F795-A3C7-4662-A088-46BF47FB312C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 rtlCol="0">
            <a:normAutofit/>
          </a:bodyPr>
          <a:lstStyle/>
          <a:p>
            <a:r>
              <a:rPr lang="en-US" sz="1600" dirty="0">
                <a:solidFill>
                  <a:schemeClr val="accent4"/>
                </a:solidFill>
              </a:rPr>
              <a:t>Phase 1: Lead Qualification</a:t>
            </a:r>
          </a:p>
        </p:txBody>
      </p:sp>
      <p:sp>
        <p:nvSpPr>
          <p:cNvPr id="3" name="Text Placeholder 4">
            <a:extLst>
              <a:ext uri="{88DB04C3-407B-40A9-B4D1-D57F2F63B7F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C584278-B742-494A-992F-C961B0FF3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Phase 2: Lead Conversion </a:t>
            </a:r>
          </a:p>
        </p:txBody>
      </p:sp>
      <p:sp>
        <p:nvSpPr>
          <p:cNvPr id="4" name="Content Placeholder 2">
            <a:extLst>
              <a:ext uri="{E3100064-3026-4B85-BFA0-B0A78F92CF4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7038F7A-79CC-4518-8448-3D4C65CD041C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 rtlCol="0">
            <a:normAutofit/>
          </a:bodyPr>
          <a:lstStyle/>
          <a:p>
            <a:pPr>
              <a:buChar char="•"/>
            </a:pPr>
            <a:r>
              <a:rPr lang="en-US" sz="1200" dirty="0"/>
              <a:t>Decide what makes a </a:t>
            </a:r>
            <a:r>
              <a:rPr lang="en-US" sz="1200" dirty="0" err="1"/>
              <a:t>Patson</a:t>
            </a:r>
            <a:r>
              <a:rPr lang="en-US" sz="1200" dirty="0"/>
              <a:t> lead 'Qualified'</a:t>
            </a:r>
          </a:p>
          <a:p>
            <a:pPr>
              <a:buChar char="•"/>
            </a:pPr>
            <a:r>
              <a:rPr lang="en-US" sz="1200" dirty="0"/>
              <a:t>Define the lead qualification fields</a:t>
            </a:r>
          </a:p>
          <a:p>
            <a:pPr>
              <a:buChar char="•"/>
            </a:pPr>
            <a:r>
              <a:rPr lang="en-US" sz="1200" dirty="0"/>
              <a:t>Create the field.</a:t>
            </a:r>
          </a:p>
          <a:p>
            <a:pPr>
              <a:buChar char="•"/>
            </a:pPr>
            <a:r>
              <a:rPr lang="en-US" sz="1200" dirty="0"/>
              <a:t>Decide which fields are mandatory. </a:t>
            </a:r>
          </a:p>
          <a:p>
            <a:pPr>
              <a:buChar char="•"/>
            </a:pPr>
            <a:r>
              <a:rPr lang="en-US" sz="1200" dirty="0"/>
              <a:t>Create the qualification statuses. </a:t>
            </a:r>
          </a:p>
          <a:p>
            <a:pPr>
              <a:buChar char="•"/>
            </a:pPr>
            <a:r>
              <a:rPr lang="en-US" sz="1200" dirty="0"/>
              <a:t>Configure lead conversion mapping. </a:t>
            </a:r>
          </a:p>
          <a:p>
            <a:pPr>
              <a:buChar char="•"/>
            </a:pPr>
            <a:endParaRPr lang="en-US" sz="1200" dirty="0"/>
          </a:p>
        </p:txBody>
      </p:sp>
      <p:sp>
        <p:nvSpPr>
          <p:cNvPr id="5" name="Title 1">
            <a:extLst>
              <a:ext uri="{05E32718-C3E0-4A12-9A0D-4399926BB4E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7CC097D-4BAA-429C-BCBA-7CD4A76A80A6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/>
          <a:p>
            <a:r>
              <a:rPr lang="en-US" sz="2400" dirty="0"/>
              <a:t>Implementation Plan</a:t>
            </a:r>
          </a:p>
        </p:txBody>
      </p:sp>
      <p:sp>
        <p:nvSpPr>
          <p:cNvPr id="6" name="Content Placeholder 2">
            <a:extLst>
              <a:ext uri="{E67C78C3-A8C7-4679-B185-97527956185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0AEED6A-48EA-48BC-801B-55223522642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4718" y="2008727"/>
            <a:ext cx="3619500" cy="2510865"/>
          </a:xfrm>
        </p:spPr>
        <p:txBody>
          <a:bodyPr rtlCol="0">
            <a:normAutofit/>
          </a:bodyPr>
          <a:lstStyle/>
          <a:p>
            <a:r>
              <a:rPr lang="en-US" sz="1200" dirty="0"/>
              <a:t>Configure lead conversion into Contacts, Accounts, and Deal. </a:t>
            </a:r>
          </a:p>
          <a:p>
            <a:r>
              <a:rPr lang="en-US" sz="1200" dirty="0"/>
              <a:t>Map lead to Account</a:t>
            </a:r>
          </a:p>
          <a:p>
            <a:r>
              <a:rPr lang="en-US" sz="1200" dirty="0"/>
              <a:t>Map lead to Contact</a:t>
            </a:r>
          </a:p>
          <a:p>
            <a:r>
              <a:rPr lang="en-US" sz="1200" dirty="0"/>
              <a:t>Map lead to Deal</a:t>
            </a:r>
          </a:p>
          <a:p>
            <a:r>
              <a:rPr lang="en-US" sz="1200" dirty="0"/>
              <a:t>Test the Conversion</a:t>
            </a:r>
          </a:p>
        </p:txBody>
      </p:sp>
    </p:spTree>
    <p:extLst>
      <p:ext uri="{299695BE-4F6A-46B5-A0AB-0ABFCCFDD4C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3F662996-A2E3-4F13-B484-7338A2777E1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3E3AAFD-CB44-4B73-BD0D-B7C6372ACEC4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 rtlCol="0">
            <a:normAutofit/>
          </a:bodyPr>
          <a:lstStyle/>
          <a:p>
            <a:r>
              <a:rPr lang="en-US" sz="1600" dirty="0">
                <a:solidFill>
                  <a:schemeClr val="accent4"/>
                </a:solidFill>
              </a:rPr>
              <a:t>Phase 3: RFQ management</a:t>
            </a:r>
          </a:p>
        </p:txBody>
      </p:sp>
      <p:sp>
        <p:nvSpPr>
          <p:cNvPr id="3" name="Text Placeholder 4">
            <a:extLst>
              <a:ext uri="{97DE7ED3-4EF9-48A9-9CBE-D28D6DAA20C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199D11C-A4B7-41D1-BB96-003234CAE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Phase 4: </a:t>
            </a:r>
            <a:r>
              <a:rPr lang="en-US" dirty="0" err="1">
                <a:solidFill>
                  <a:schemeClr val="accent4"/>
                </a:solidFill>
              </a:rPr>
              <a:t>BOM</a:t>
            </a:r>
            <a:r>
              <a:rPr lang="en-US" dirty="0">
                <a:solidFill>
                  <a:schemeClr val="accent4"/>
                </a:solidFill>
              </a:rPr>
              <a:t> Management</a:t>
            </a:r>
          </a:p>
        </p:txBody>
      </p:sp>
      <p:sp>
        <p:nvSpPr>
          <p:cNvPr id="4" name="Content Placeholder 2">
            <a:extLst>
              <a:ext uri="{DE6A6A3A-67CC-4EB2-B33D-038CBE75F1D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2B90F5F-BE9B-4016-8162-ADBD0DE6FB4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40"/>
            <a:ext cx="3619500" cy="1830409"/>
          </a:xfrm>
        </p:spPr>
        <p:txBody>
          <a:bodyPr rtlCol="0">
            <a:normAutofit/>
          </a:bodyPr>
          <a:lstStyle/>
          <a:p>
            <a:pPr>
              <a:buChar char="•"/>
            </a:pPr>
            <a:r>
              <a:rPr lang="en-US" sz="1200" dirty="0"/>
              <a:t>Review the existing RFQ module. </a:t>
            </a:r>
          </a:p>
          <a:p>
            <a:pPr>
              <a:buChar char="•"/>
            </a:pPr>
            <a:r>
              <a:rPr lang="en-US" sz="1200" dirty="0"/>
              <a:t>Cleanup its  fields</a:t>
            </a:r>
          </a:p>
          <a:p>
            <a:pPr>
              <a:buChar char="•"/>
            </a:pPr>
            <a:r>
              <a:rPr lang="en-US" sz="1200" dirty="0"/>
              <a:t>Add required document/file storage </a:t>
            </a:r>
          </a:p>
          <a:p>
            <a:pPr>
              <a:buChar char="•"/>
            </a:pPr>
            <a:r>
              <a:rPr lang="en-US" sz="1200" dirty="0"/>
              <a:t>Establish RFQ-Deal relationship</a:t>
            </a:r>
          </a:p>
        </p:txBody>
      </p:sp>
      <p:sp>
        <p:nvSpPr>
          <p:cNvPr id="5" name="Title 1">
            <a:extLst>
              <a:ext uri="{1F079290-21D0-4472-AADD-A9BF7C3BD12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56AC410-CDE8-49D7-ACB1-B349CDECCD6B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/>
          <a:p>
            <a:r>
              <a:rPr lang="en-US" sz="2400" dirty="0"/>
              <a:t>Implementation Plan</a:t>
            </a:r>
          </a:p>
        </p:txBody>
      </p:sp>
      <p:sp>
        <p:nvSpPr>
          <p:cNvPr id="6" name="Content Placeholder 2">
            <a:extLst>
              <a:ext uri="{3AFA753C-AEC4-4DDF-9D18-584170D84BD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D1E17BA-A91D-439A-B12E-5399774FB02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4718" y="2008727"/>
            <a:ext cx="3619500" cy="2510865"/>
          </a:xfrm>
        </p:spPr>
        <p:txBody>
          <a:bodyPr rtlCol="0">
            <a:normAutofit/>
          </a:bodyPr>
          <a:lstStyle/>
          <a:p>
            <a:r>
              <a:rPr lang="en-US" sz="1200" dirty="0"/>
              <a:t>Create a separate </a:t>
            </a:r>
            <a:r>
              <a:rPr lang="en-US" sz="1200" dirty="0" err="1"/>
              <a:t>BOM</a:t>
            </a:r>
            <a:r>
              <a:rPr lang="en-US" sz="1200" dirty="0"/>
              <a:t> Module</a:t>
            </a:r>
          </a:p>
          <a:p>
            <a:r>
              <a:rPr lang="en-US" sz="1200" dirty="0"/>
              <a:t>Create </a:t>
            </a:r>
            <a:r>
              <a:rPr lang="en-US" sz="1200" dirty="0" err="1"/>
              <a:t>BOM</a:t>
            </a:r>
            <a:r>
              <a:rPr lang="en-US" sz="1200" dirty="0"/>
              <a:t> fields</a:t>
            </a:r>
          </a:p>
          <a:p>
            <a:r>
              <a:rPr lang="en-US" sz="1200" dirty="0"/>
              <a:t>Create </a:t>
            </a:r>
            <a:r>
              <a:rPr lang="en-US" sz="1200" dirty="0" err="1"/>
              <a:t>BOM</a:t>
            </a:r>
            <a:r>
              <a:rPr lang="en-US" sz="1200" dirty="0"/>
              <a:t> item structure</a:t>
            </a:r>
          </a:p>
          <a:p>
            <a:r>
              <a:rPr lang="en-US" sz="1200" dirty="0"/>
              <a:t>Add file and document Storage</a:t>
            </a:r>
          </a:p>
          <a:p>
            <a:r>
              <a:rPr lang="en-US" sz="1200" dirty="0"/>
              <a:t>Link </a:t>
            </a:r>
            <a:r>
              <a:rPr lang="en-US" sz="1200" dirty="0" err="1"/>
              <a:t>BOM</a:t>
            </a:r>
            <a:r>
              <a:rPr lang="en-US" sz="1200" dirty="0"/>
              <a:t>, Deal, and RFQ. </a:t>
            </a:r>
          </a:p>
        </p:txBody>
      </p:sp>
    </p:spTree>
    <p:extLst>
      <p:ext uri="{077415AA-B6F9-46D1-A193-8FD93AC28F1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0007B9E4-3D79-4F61-8645-35BF99A663E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EAA0901-ED59-4472-AC8C-2531C7282D4A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 rtlCol="0">
            <a:normAutofit/>
          </a:bodyPr>
          <a:lstStyle/>
          <a:p>
            <a:r>
              <a:rPr lang="en-US" sz="1600" dirty="0">
                <a:solidFill>
                  <a:schemeClr val="accent4"/>
                </a:solidFill>
              </a:rPr>
              <a:t>Phase 5: Quotation management</a:t>
            </a:r>
          </a:p>
        </p:txBody>
      </p:sp>
      <p:sp>
        <p:nvSpPr>
          <p:cNvPr id="3" name="Text Placeholder 4">
            <a:extLst>
              <a:ext uri="{20333D8B-7276-4A2B-8767-884B460582A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01770A1-CC1F-4175-BC52-14A5ABB30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Phase 6: Deal Blueprint</a:t>
            </a:r>
          </a:p>
        </p:txBody>
      </p:sp>
      <p:sp>
        <p:nvSpPr>
          <p:cNvPr id="4" name="Content Placeholder 2">
            <a:extLst>
              <a:ext uri="{2848ACF6-3B2D-4938-BE34-1A456DD7A49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7BD0338-EC47-4638-8153-1E23136921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40"/>
            <a:ext cx="3619500" cy="2764631"/>
          </a:xfrm>
        </p:spPr>
        <p:txBody>
          <a:bodyPr rtlCol="0">
            <a:normAutofit/>
          </a:bodyPr>
          <a:lstStyle/>
          <a:p>
            <a:pPr marL="342900" indent="-342900" algn="just">
              <a:buChar char="•"/>
            </a:pPr>
            <a:r>
              <a:rPr lang="en-US" sz="1200" dirty="0"/>
              <a:t>Create Quotation module. </a:t>
            </a:r>
          </a:p>
          <a:p>
            <a:pPr>
              <a:buChar char="•"/>
            </a:pPr>
            <a:r>
              <a:rPr lang="en-US" sz="1200" dirty="0"/>
              <a:t>Create quotation fields</a:t>
            </a:r>
          </a:p>
          <a:p>
            <a:pPr>
              <a:buChar char="•"/>
            </a:pPr>
            <a:r>
              <a:rPr lang="en-US" sz="1200" dirty="0"/>
              <a:t>Add revision management. </a:t>
            </a:r>
          </a:p>
          <a:p>
            <a:pPr>
              <a:buChar char="•"/>
            </a:pPr>
            <a:r>
              <a:rPr lang="en-US" sz="1200" dirty="0"/>
              <a:t>Add quotation document storage. </a:t>
            </a:r>
          </a:p>
          <a:p>
            <a:pPr>
              <a:buChar char="•"/>
            </a:pPr>
            <a:r>
              <a:rPr lang="en-US" sz="1200" dirty="0"/>
              <a:t>Link Quotation to Deal, RFQ and </a:t>
            </a:r>
            <a:r>
              <a:rPr lang="en-US" sz="1200" dirty="0" err="1"/>
              <a:t>BOM</a:t>
            </a:r>
            <a:r>
              <a:rPr lang="en-US" sz="1200" dirty="0"/>
              <a:t> modules.</a:t>
            </a:r>
          </a:p>
          <a:p>
            <a:pPr>
              <a:buChar char="•"/>
            </a:pPr>
            <a:endParaRPr lang="en-US" sz="1200" dirty="0"/>
          </a:p>
          <a:p>
            <a:pPr>
              <a:buChar char="•"/>
            </a:pPr>
            <a:endParaRPr lang="en-US" sz="1200" dirty="0"/>
          </a:p>
        </p:txBody>
      </p:sp>
      <p:sp>
        <p:nvSpPr>
          <p:cNvPr id="5" name="Title 1">
            <a:extLst>
              <a:ext uri="{096A92E2-98B6-4710-B414-323B5567C52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47CE22B-76DB-434D-BBCE-0E5F234ABFF1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/>
          <a:p>
            <a:r>
              <a:rPr lang="en-US" sz="2400" dirty="0"/>
              <a:t>Implementation Plan</a:t>
            </a:r>
          </a:p>
        </p:txBody>
      </p:sp>
      <p:sp>
        <p:nvSpPr>
          <p:cNvPr id="6" name="Content Placeholder 2">
            <a:extLst>
              <a:ext uri="{054D56EE-F7E2-4760-9D06-F993215F5A3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7472B88-00CD-4F90-8A36-FAD496F151E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4718" y="2008727"/>
            <a:ext cx="3619500" cy="2510865"/>
          </a:xfrm>
        </p:spPr>
        <p:txBody>
          <a:bodyPr rtlCol="0">
            <a:normAutofit/>
          </a:bodyPr>
          <a:lstStyle/>
          <a:p>
            <a:r>
              <a:rPr lang="en-US" sz="1200" dirty="0"/>
              <a:t>Modify the existing blueprint</a:t>
            </a:r>
          </a:p>
          <a:p>
            <a:r>
              <a:rPr lang="en-US" sz="1200" dirty="0"/>
              <a:t>Connect BOM preparation to </a:t>
            </a:r>
            <a:r>
              <a:rPr lang="en-US" sz="1200" dirty="0" err="1"/>
              <a:t>BOM</a:t>
            </a:r>
            <a:r>
              <a:rPr lang="en-US" sz="1200" dirty="0"/>
              <a:t> module</a:t>
            </a:r>
          </a:p>
          <a:p>
            <a:r>
              <a:rPr lang="en-US" sz="1200" dirty="0"/>
              <a:t>Connect Quotation preparation to Quotation module. </a:t>
            </a:r>
          </a:p>
          <a:p>
            <a:r>
              <a:rPr lang="en-US" sz="1200" dirty="0"/>
              <a:t>Add revision loops</a:t>
            </a:r>
          </a:p>
          <a:p>
            <a:r>
              <a:rPr lang="en-US" sz="1200" dirty="0"/>
              <a:t>Configure Approvals</a:t>
            </a:r>
          </a:p>
          <a:p>
            <a:r>
              <a:rPr lang="en-US" sz="1200" dirty="0"/>
              <a:t>Configure Closed Won/Closed Lost</a:t>
            </a:r>
          </a:p>
        </p:txBody>
      </p:sp>
    </p:spTree>
    <p:extLst>
      <p:ext uri="{BB1DA6BB-5160-4DF0-902B-B05DDA99614E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54A7A8DD-21A9-4400-9E9A-C245A210F9E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3B11BC-4B4A-46C3-A0AC-6290BFCC14C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71439" y="1334119"/>
            <a:ext cx="3619500" cy="540644"/>
          </a:xfrm>
        </p:spPr>
        <p:txBody>
          <a:bodyPr rtlCol="0">
            <a:normAutofit/>
          </a:bodyPr>
          <a:lstStyle/>
          <a:p>
            <a:r>
              <a:rPr lang="en-US" sz="1600" dirty="0">
                <a:solidFill>
                  <a:schemeClr val="accent4"/>
                </a:solidFill>
              </a:rPr>
              <a:t>Phase 7: Automation</a:t>
            </a:r>
          </a:p>
        </p:txBody>
      </p:sp>
      <p:sp>
        <p:nvSpPr>
          <p:cNvPr id="3" name="Text Placeholder 4">
            <a:extLst>
              <a:ext uri="{5AC1A01B-DD76-458F-A0CE-D0CC665358A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4C8F74E-6A69-4A37-B82B-459D62B7C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8" y="1337186"/>
            <a:ext cx="3619500" cy="540644"/>
          </a:xfrm>
        </p:spPr>
        <p:txBody>
          <a:bodyPr rtlCol="0">
            <a:norm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Phase 8: Testing</a:t>
            </a:r>
          </a:p>
        </p:txBody>
      </p:sp>
      <p:sp>
        <p:nvSpPr>
          <p:cNvPr id="4" name="Content Placeholder 2">
            <a:extLst>
              <a:ext uri="{8159B406-188C-4C84-B917-A4442311089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0BDC312-7E24-4497-93FD-FC7699A47D4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848297"/>
            <a:ext cx="3619500" cy="1934222"/>
          </a:xfrm>
        </p:spPr>
        <p:txBody>
          <a:bodyPr rtlCol="0">
            <a:normAutofit lnSpcReduction="10000"/>
          </a:bodyPr>
          <a:lstStyle/>
          <a:p>
            <a:pPr marL="0" indent="0" algn="just">
              <a:buNone/>
            </a:pPr>
            <a:endParaRPr/>
          </a:p>
          <a:p>
            <a:pPr>
              <a:buChar char="•"/>
            </a:pPr>
            <a:r>
              <a:rPr lang="en-US" sz="1200" dirty="0"/>
              <a:t>Record Locking</a:t>
            </a:r>
          </a:p>
          <a:p>
            <a:pPr>
              <a:buChar char="•"/>
            </a:pPr>
            <a:r>
              <a:rPr lang="en-US" sz="1200" dirty="0"/>
              <a:t>Notifications</a:t>
            </a:r>
          </a:p>
          <a:p>
            <a:pPr>
              <a:buChar char="•"/>
            </a:pPr>
            <a:r>
              <a:rPr lang="en-US" sz="1200" dirty="0"/>
              <a:t>Workflow Automation</a:t>
            </a:r>
          </a:p>
          <a:p>
            <a:pPr>
              <a:buChar char="•"/>
            </a:pPr>
            <a:endParaRPr lang="en-US" sz="1200" dirty="0"/>
          </a:p>
          <a:p>
            <a:pPr>
              <a:buChar char="•"/>
            </a:pPr>
            <a:endParaRPr lang="en-US" sz="1200" dirty="0"/>
          </a:p>
        </p:txBody>
      </p:sp>
      <p:sp>
        <p:nvSpPr>
          <p:cNvPr id="5" name="Title 1">
            <a:extLst>
              <a:ext uri="{BCD73D51-281C-4B46-A891-3764964C219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B9FEFCC-E97B-43A6-8BEC-15585B9EAC8F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/>
          <a:p>
            <a:r>
              <a:rPr lang="en-US" sz="2400" dirty="0"/>
              <a:t>Implementation Plan</a:t>
            </a:r>
          </a:p>
        </p:txBody>
      </p:sp>
      <p:sp>
        <p:nvSpPr>
          <p:cNvPr id="6" name="Content Placeholder 2">
            <a:extLst>
              <a:ext uri="{0674C671-B8F6-418A-BB26-8931E6C3CEE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3CCC8D8-8851-4D4E-86D3-5EFC9B46105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4718" y="1874767"/>
            <a:ext cx="3907078" cy="3268732"/>
          </a:xfrm>
        </p:spPr>
        <p:txBody>
          <a:bodyPr rtlCol="0">
            <a:normAutofit fontScale="92500" lnSpcReduction="20000"/>
          </a:bodyPr>
          <a:lstStyle/>
          <a:p>
            <a:r>
              <a:rPr lang="en-US" sz="1200" dirty="0"/>
              <a:t>Create a Dummy lead</a:t>
            </a:r>
          </a:p>
          <a:p>
            <a:r>
              <a:rPr lang="en-US" sz="1200" dirty="0"/>
              <a:t>Qualify it</a:t>
            </a:r>
          </a:p>
          <a:p>
            <a:r>
              <a:rPr lang="en-US" sz="1200" dirty="0"/>
              <a:t>Convert the lead into Contact, Account and Deal</a:t>
            </a:r>
          </a:p>
          <a:p>
            <a:r>
              <a:rPr lang="en-US" sz="1200" dirty="0"/>
              <a:t>Create RFQ</a:t>
            </a:r>
          </a:p>
          <a:p>
            <a:r>
              <a:rPr lang="en-US" sz="1200" dirty="0"/>
              <a:t>Prepare </a:t>
            </a:r>
            <a:r>
              <a:rPr lang="en-US" sz="1200" dirty="0" err="1"/>
              <a:t>BOM</a:t>
            </a:r>
          </a:p>
          <a:p>
            <a:r>
              <a:rPr lang="en-US" sz="1200" dirty="0"/>
              <a:t>Prepare Quotation</a:t>
            </a:r>
          </a:p>
          <a:p>
            <a:r>
              <a:rPr lang="en-US" sz="1200" dirty="0"/>
              <a:t>Revise Quotation if required</a:t>
            </a:r>
          </a:p>
          <a:p>
            <a:r>
              <a:rPr lang="en-US" sz="1200" dirty="0"/>
              <a:t>Receive Purchase Order(PO)</a:t>
            </a:r>
          </a:p>
          <a:p>
            <a:r>
              <a:rPr lang="en-US" sz="1200" dirty="0"/>
              <a:t>Close Won</a:t>
            </a:r>
          </a:p>
          <a:p>
            <a:r>
              <a:rPr lang="en-US" sz="1200" dirty="0"/>
              <a:t>Verify that all information and files can we retrieved later. </a:t>
            </a:r>
            <a:br>
              <a:rPr lang="en-US" sz="1200" dirty="0"/>
            </a:br>
            <a:endParaRPr lang="en-US" sz="1200" dirty="0"/>
          </a:p>
        </p:txBody>
      </p:sp>
    </p:spTree>
    <p:extLst>
      <p:ext uri="{CBDDF309-1688-45F1-B0DA-DC5B1B13C529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894594364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On-screen Show (16:9)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Open Sans</vt:lpstr>
      <vt:lpstr>Whitepaper</vt:lpstr>
      <vt:lpstr>Patson Machines CRM Workflow Architecture and Planning</vt:lpstr>
      <vt:lpstr>Proposed Architecture</vt:lpstr>
      <vt:lpstr>Implementation Plan</vt:lpstr>
      <vt:lpstr>Implementation Plan</vt:lpstr>
      <vt:lpstr>Implementation Plan</vt:lpstr>
      <vt:lpstr>Implementation Plan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anuragpatil811@gmail.com</cp:lastModifiedBy>
  <cp:revision>2</cp:revision>
  <dcterms:created xsi:type="dcterms:W3CDTF">2026-04-01T03:34:09Z</dcterms:created>
  <dcterms:modified xsi:type="dcterms:W3CDTF">2026-09-15T08:04:49Z</dcterms:modified>
</cp:coreProperties>
</file>